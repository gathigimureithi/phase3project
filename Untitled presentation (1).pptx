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c701d0a87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c701d0a87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 name="Shape 62"/>
        <p:cNvGrpSpPr/>
        <p:nvPr/>
      </p:nvGrpSpPr>
      <p:grpSpPr>
        <a:xfrm>
          <a:off x="0" y="0"/>
          <a:ext cx="0" cy="0"/>
          <a:chOff x="0" y="0"/>
          <a:chExt cx="0" cy="0"/>
        </a:xfrm>
      </p:grpSpPr>
      <p:sp>
        <p:nvSpPr>
          <p:cNvPr id="63" name="Google Shape;63;g3c701d0a872_0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 name="Google Shape;64;g3c701d0a872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g3c701d0a872_0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 name="Google Shape;70;g3c701d0a872_0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 name="Shape 74"/>
        <p:cNvGrpSpPr/>
        <p:nvPr/>
      </p:nvGrpSpPr>
      <p:grpSpPr>
        <a:xfrm>
          <a:off x="0" y="0"/>
          <a:ext cx="0" cy="0"/>
          <a:chOff x="0" y="0"/>
          <a:chExt cx="0" cy="0"/>
        </a:xfrm>
      </p:grpSpPr>
      <p:sp>
        <p:nvSpPr>
          <p:cNvPr id="75" name="Google Shape;75;g3c701d0a872_0_1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 name="Google Shape;76;g3c701d0a872_0_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g3c701d0a872_0_2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2" name="Google Shape;82;g3c701d0a872_0_2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g3c701d0a872_0_2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7" name="Google Shape;87;g3c701d0a872_0_2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c701d0a872_0_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c701d0a872_0_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c701d0a872_0_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c701d0a872_0_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2" name="Shape 102"/>
        <p:cNvGrpSpPr/>
        <p:nvPr/>
      </p:nvGrpSpPr>
      <p:grpSpPr>
        <a:xfrm>
          <a:off x="0" y="0"/>
          <a:ext cx="0" cy="0"/>
          <a:chOff x="0" y="0"/>
          <a:chExt cx="0" cy="0"/>
        </a:xfrm>
      </p:grpSpPr>
      <p:sp>
        <p:nvSpPr>
          <p:cNvPr id="103" name="Google Shape;103;g3c701d0a872_0_4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4" name="Google Shape;104;g3c701d0a872_0_4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c701d0a872_0_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c701d0a872_0_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g3c701d0a872_0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7" name="Google Shape;117;g3c701d0a872_0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3c701d0a872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3c701d0a872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c701d0a872_0_6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1" name="Google Shape;131;g3c701d0a872_0_6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c701d0a872_0_7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8" name="Google Shape;138;g3c701d0a872_0_7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2" name="Shape 142"/>
        <p:cNvGrpSpPr/>
        <p:nvPr/>
      </p:nvGrpSpPr>
      <p:grpSpPr>
        <a:xfrm>
          <a:off x="0" y="0"/>
          <a:ext cx="0" cy="0"/>
          <a:chOff x="0" y="0"/>
          <a:chExt cx="0" cy="0"/>
        </a:xfrm>
      </p:grpSpPr>
      <p:sp>
        <p:nvSpPr>
          <p:cNvPr id="143" name="Google Shape;143;g3c701d0a872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44" name="Google Shape;144;g3c701d0a872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c701d0a872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c701d0a872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c701d0a872_0_9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c701d0a872_0_9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c701d0a872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c701d0a872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c701d0a872_0_1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c701d0a872_0_1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c701d0a872_0_1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c701d0a872_0_1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6.xml"/><Relationship Id="rId3"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 Id="rId3" Type="http://schemas.openxmlformats.org/officeDocument/2006/relationships/image" Target="../media/image3.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 Id="rId3" Type="http://schemas.openxmlformats.org/officeDocument/2006/relationships/image" Target="../media/image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 Id="rId3" Type="http://schemas.openxmlformats.org/officeDocument/2006/relationships/image" Target="../media/image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p>
            <a:pPr indent="0" lvl="0" marL="0" rtl="0" algn="ctr">
              <a:spcBef>
                <a:spcPts val="0"/>
              </a:spcBef>
              <a:spcAft>
                <a:spcPts val="0"/>
              </a:spcAft>
              <a:buNone/>
            </a:pPr>
            <a:r>
              <a:rPr lang="en"/>
              <a:t>Predicting Customer Churn at SyriaTel </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A Data-Driven Approach to Customer Retention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sp>
        <p:nvSpPr>
          <p:cNvPr id="60" name="Google Shape;60;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SyriaTel Customer Churn Prediction Presentation</a:t>
            </a:r>
            <a:endParaRPr/>
          </a:p>
        </p:txBody>
      </p:sp>
      <p:sp>
        <p:nvSpPr>
          <p:cNvPr id="61" name="Google Shape;61;p1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100">
                <a:solidFill>
                  <a:schemeClr val="dk1"/>
                </a:solidFill>
              </a:rPr>
              <a:t>  </a:t>
            </a:r>
            <a:r>
              <a:rPr lang="en" sz="2500">
                <a:solidFill>
                  <a:schemeClr val="dk1"/>
                </a:solidFill>
              </a:rPr>
              <a:t>Name: Jeffrey Gathigi</a:t>
            </a:r>
            <a:endParaRPr sz="2500">
              <a:solidFill>
                <a:schemeClr val="dk1"/>
              </a:solidFill>
            </a:endParaRPr>
          </a:p>
          <a:p>
            <a:pPr indent="0" lvl="0" marL="0" rtl="0" algn="l">
              <a:spcBef>
                <a:spcPts val="0"/>
              </a:spcBef>
              <a:spcAft>
                <a:spcPts val="0"/>
              </a:spcAft>
              <a:buNone/>
            </a:pPr>
            <a:r>
              <a:rPr lang="en" sz="2500">
                <a:solidFill>
                  <a:schemeClr val="dk1"/>
                </a:solidFill>
              </a:rPr>
              <a:t>Instructor: Brian Chacha</a:t>
            </a:r>
            <a:endParaRPr sz="2500">
              <a:solidFill>
                <a:schemeClr val="dk1"/>
              </a:solidFill>
            </a:endParaRPr>
          </a:p>
          <a:p>
            <a:pPr indent="0" lvl="0" marL="0" rtl="0" algn="l">
              <a:spcBef>
                <a:spcPts val="0"/>
              </a:spcBef>
              <a:spcAft>
                <a:spcPts val="0"/>
              </a:spcAft>
              <a:buClr>
                <a:schemeClr val="dk1"/>
              </a:buClr>
              <a:buSzPts val="1100"/>
              <a:buFont typeface="Arial"/>
              <a:buNone/>
            </a:pPr>
            <a:r>
              <a:rPr lang="en" sz="2500">
                <a:solidFill>
                  <a:schemeClr val="dk1"/>
                </a:solidFill>
              </a:rPr>
              <a:t>Program: Data Science (Part-Time)</a:t>
            </a:r>
            <a:endParaRPr sz="2500">
              <a:solidFill>
                <a:schemeClr val="dk1"/>
              </a:solidFill>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 name="Shape 65"/>
        <p:cNvGrpSpPr/>
        <p:nvPr/>
      </p:nvGrpSpPr>
      <p:grpSpPr>
        <a:xfrm>
          <a:off x="0" y="0"/>
          <a:ext cx="0" cy="0"/>
          <a:chOff x="0" y="0"/>
          <a:chExt cx="0" cy="0"/>
        </a:xfrm>
      </p:grpSpPr>
      <p:sp>
        <p:nvSpPr>
          <p:cNvPr id="66" name="Google Shape;66;p15"/>
          <p:cNvSpPr txBox="1"/>
          <p:nvPr>
            <p:ph type="title"/>
          </p:nvPr>
        </p:nvSpPr>
        <p:spPr>
          <a:xfrm>
            <a:off x="311700" y="445025"/>
            <a:ext cx="8520600" cy="8748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OVERVIEW - THE CUSTOMER RETENTION CHALLENGE</a:t>
            </a:r>
            <a:endParaRPr/>
          </a:p>
        </p:txBody>
      </p:sp>
      <p:sp>
        <p:nvSpPr>
          <p:cNvPr id="67" name="Google Shape;67;p15"/>
          <p:cNvSpPr txBox="1"/>
          <p:nvPr>
            <p:ph idx="1" type="body"/>
          </p:nvPr>
        </p:nvSpPr>
        <p:spPr>
          <a:xfrm>
            <a:off x="311700" y="1319925"/>
            <a:ext cx="8520600" cy="32490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600">
                <a:solidFill>
                  <a:schemeClr val="dk1"/>
                </a:solidFill>
              </a:rPr>
              <a:t>Key Points</a:t>
            </a:r>
            <a:endParaRPr sz="1600">
              <a:solidFill>
                <a:schemeClr val="dk1"/>
              </a:solidFill>
            </a:endParaRPr>
          </a:p>
          <a:p>
            <a:pPr indent="0" lvl="0" marL="0" rtl="0" algn="l">
              <a:spcBef>
                <a:spcPts val="0"/>
              </a:spcBef>
              <a:spcAft>
                <a:spcPts val="0"/>
              </a:spcAft>
              <a:buNone/>
            </a:pPr>
            <a:r>
              <a:rPr lang="en" sz="1600">
                <a:solidFill>
                  <a:schemeClr val="dk1"/>
                </a:solidFill>
              </a:rPr>
              <a:t>The Problem: We're losing customers (churn)</a:t>
            </a:r>
            <a:endParaRPr sz="1600">
              <a:solidFill>
                <a:schemeClr val="dk1"/>
              </a:solidFill>
            </a:endParaRPr>
          </a:p>
          <a:p>
            <a:pPr indent="0" lvl="0" marL="0" rtl="0" algn="l">
              <a:spcBef>
                <a:spcPts val="0"/>
              </a:spcBef>
              <a:spcAft>
                <a:spcPts val="0"/>
              </a:spcAft>
              <a:buNone/>
            </a:pPr>
            <a:r>
              <a:rPr lang="en" sz="1600">
                <a:solidFill>
                  <a:schemeClr val="dk1"/>
                </a:solidFill>
              </a:rPr>
              <a:t>Why It Matters: Acquiring new customers costs 5-25x more than keeping existing ones</a:t>
            </a:r>
            <a:endParaRPr sz="1600">
              <a:solidFill>
                <a:schemeClr val="dk1"/>
              </a:solidFill>
            </a:endParaRPr>
          </a:p>
          <a:p>
            <a:pPr indent="0" lvl="0" marL="0" rtl="0" algn="l">
              <a:spcBef>
                <a:spcPts val="0"/>
              </a:spcBef>
              <a:spcAft>
                <a:spcPts val="0"/>
              </a:spcAft>
              <a:buNone/>
            </a:pPr>
            <a:r>
              <a:rPr lang="en" sz="1600">
                <a:solidFill>
                  <a:schemeClr val="dk1"/>
                </a:solidFill>
              </a:rPr>
              <a:t>Our Solution: Predict who will leave BEFORE they go</a:t>
            </a:r>
            <a:endParaRPr sz="1600">
              <a:solidFill>
                <a:schemeClr val="dk1"/>
              </a:solidFill>
            </a:endParaRPr>
          </a:p>
          <a:p>
            <a:pPr indent="0" lvl="0" marL="0" rtl="0" algn="l">
              <a:spcBef>
                <a:spcPts val="0"/>
              </a:spcBef>
              <a:spcAft>
                <a:spcPts val="0"/>
              </a:spcAft>
              <a:buNone/>
            </a:pPr>
            <a:r>
              <a:rPr lang="en" sz="1600">
                <a:solidFill>
                  <a:schemeClr val="dk1"/>
                </a:solidFill>
              </a:rPr>
              <a:t>Expected Impact: Save millions in revenue through targeted retention</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None/>
            </a:pPr>
            <a:r>
              <a:rPr lang="en" sz="1600">
                <a:solidFill>
                  <a:schemeClr val="dk1"/>
                </a:solidFill>
              </a:rPr>
              <a:t>Every time a customer leaves SyriaTel, we lose not just their monthly revenue, but potentially thousands of dollars in lifetime value. Studies show that acquiring a new customer costs between 5 to 25 times more than retaining an existing one. This project uses data to predict which customers are at risk of leaving, giving us time to intervene and keep them."</a:t>
            </a:r>
            <a:endParaRPr sz="1600">
              <a:solidFill>
                <a:schemeClr val="dk1"/>
              </a:solidFill>
            </a:endParaRPr>
          </a:p>
          <a:p>
            <a:pPr indent="0" lvl="0" marL="0" rtl="0" algn="l">
              <a:spcBef>
                <a:spcPts val="0"/>
              </a:spcBef>
              <a:spcAft>
                <a:spcPts val="0"/>
              </a:spcAft>
              <a:buClr>
                <a:schemeClr val="dk1"/>
              </a:buClr>
              <a:buSzPts val="1100"/>
              <a:buFont typeface="Arial"/>
              <a:buNone/>
            </a:pPr>
            <a:r>
              <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UNDERSTANDING - OUR GOAL</a:t>
            </a:r>
            <a:endParaRPr/>
          </a:p>
        </p:txBody>
      </p:sp>
      <p:sp>
        <p:nvSpPr>
          <p:cNvPr id="73" name="Google Shape;73;p1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600">
                <a:solidFill>
                  <a:schemeClr val="dk1"/>
                </a:solidFill>
              </a:rPr>
              <a:t>Key Points:</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Objective: Build an early warning system for customer churn</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Success Metric: Identify at least 70% of customers who will leave</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Why 70%?: Better to reach out to some loyal customers than miss those who will leave</a:t>
            </a:r>
            <a:endParaRPr sz="1600">
              <a:solidFill>
                <a:schemeClr val="dk1"/>
              </a:solidFill>
            </a:endParaRPr>
          </a:p>
          <a:p>
            <a:pPr indent="0" lvl="0" marL="0" rtl="0" algn="l">
              <a:spcBef>
                <a:spcPts val="0"/>
              </a:spcBef>
              <a:spcAft>
                <a:spcPts val="0"/>
              </a:spcAft>
              <a:buNone/>
            </a:pPr>
            <a:r>
              <a:rPr lang="en" sz="1600">
                <a:solidFill>
                  <a:schemeClr val="dk1"/>
                </a:solidFill>
              </a:rPr>
              <a:t>Business Impact: Enable proactive retention campaigns</a:t>
            </a:r>
            <a:endParaRPr sz="1600">
              <a:solidFill>
                <a:schemeClr val="dk1"/>
              </a:solidFill>
            </a:endParaRPr>
          </a:p>
          <a:p>
            <a:pPr indent="0" lvl="0" marL="0" rtl="0" algn="l">
              <a:spcBef>
                <a:spcPts val="0"/>
              </a:spcBef>
              <a:spcAft>
                <a:spcPts val="0"/>
              </a:spcAft>
              <a:buNone/>
            </a:pPr>
            <a:r>
              <a:t/>
            </a:r>
            <a:endParaRPr sz="1600">
              <a:solidFill>
                <a:schemeClr val="dk1"/>
              </a:solidFill>
            </a:endParaRPr>
          </a:p>
          <a:p>
            <a:pPr indent="0" lvl="0" marL="0" rtl="0" algn="l">
              <a:spcBef>
                <a:spcPts val="0"/>
              </a:spcBef>
              <a:spcAft>
                <a:spcPts val="0"/>
              </a:spcAft>
              <a:buClr>
                <a:schemeClr val="dk1"/>
              </a:buClr>
              <a:buSzPts val="1100"/>
              <a:buFont typeface="Arial"/>
              <a:buNone/>
            </a:pPr>
            <a:r>
              <a:rPr lang="en" sz="1600">
                <a:solidFill>
                  <a:schemeClr val="dk1"/>
                </a:solidFill>
              </a:rPr>
              <a:t>Our goal is straightforward: we want to know which customers are thinking about leaving before they actually do. We set a target to correctly identify at least 70% of customers who will churn. You might ask, 'why not 100%?' Well, in the real world, we'd rather reach out to some customers who weren't actually planning to leave, than miss the ones who are. The cost of a retention offer is much less than losing a customer entirely.</a:t>
            </a:r>
            <a:endParaRPr sz="16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 name="Shape 77"/>
        <p:cNvGrpSpPr/>
        <p:nvPr/>
      </p:nvGrpSpPr>
      <p:grpSpPr>
        <a:xfrm>
          <a:off x="0" y="0"/>
          <a:ext cx="0" cy="0"/>
          <a:chOff x="0" y="0"/>
          <a:chExt cx="0" cy="0"/>
        </a:xfrm>
      </p:grpSpPr>
      <p:sp>
        <p:nvSpPr>
          <p:cNvPr id="78" name="Google Shape;78;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Data Understanding - What We're Working With</a:t>
            </a:r>
            <a:endParaRPr/>
          </a:p>
          <a:p>
            <a:pPr indent="0" lvl="0" marL="0" rtl="0" algn="l">
              <a:spcBef>
                <a:spcPts val="0"/>
              </a:spcBef>
              <a:spcAft>
                <a:spcPts val="0"/>
              </a:spcAft>
              <a:buNone/>
            </a:pPr>
            <a:r>
              <a:t/>
            </a:r>
            <a:endParaRPr/>
          </a:p>
        </p:txBody>
      </p:sp>
      <p:sp>
        <p:nvSpPr>
          <p:cNvPr id="79" name="Google Shape;79;p1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chemeClr val="dk1"/>
                </a:solidFill>
              </a:rPr>
              <a:t>Key Statistics:</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3,333 Customers analyzed</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Account Information: Length of relationship, location</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Usage Patterns: Call minutes, charges, service plans</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Service History: Customer service interactions</a:t>
            </a:r>
            <a:endParaRPr sz="1500">
              <a:solidFill>
                <a:schemeClr val="dk1"/>
              </a:solidFill>
            </a:endParaRPr>
          </a:p>
          <a:p>
            <a:pPr indent="0" lvl="0" marL="0" rtl="0" algn="l">
              <a:spcBef>
                <a:spcPts val="0"/>
              </a:spcBef>
              <a:spcAft>
                <a:spcPts val="0"/>
              </a:spcAft>
              <a:buNone/>
            </a:pPr>
            <a:r>
              <a:rPr lang="en" sz="1500">
                <a:solidFill>
                  <a:schemeClr val="dk1"/>
                </a:solidFill>
              </a:rPr>
              <a:t>Current Churn Rate: 14.5% (483 customers left)</a:t>
            </a:r>
            <a:endParaRPr sz="1500">
              <a:solidFill>
                <a:schemeClr val="dk1"/>
              </a:solidFill>
            </a:endParaRPr>
          </a:p>
          <a:p>
            <a:pPr indent="0" lvl="0" marL="0" rtl="0" algn="l">
              <a:spcBef>
                <a:spcPts val="0"/>
              </a:spcBef>
              <a:spcAft>
                <a:spcPts val="0"/>
              </a:spcAft>
              <a:buClr>
                <a:schemeClr val="dk1"/>
              </a:buClr>
              <a:buSzPts val="1100"/>
              <a:buFont typeface="Arial"/>
              <a:buNone/>
            </a:pPr>
            <a:r>
              <a:rPr lang="en" sz="1500">
                <a:solidFill>
                  <a:schemeClr val="dk1"/>
                </a:solidFill>
              </a:rPr>
              <a:t>We analyzed data from 3,333 customers. For each customer, we have information about their relationship with SyriaTel: how long they've been with us, which services they use, their calling patterns, and importantly, whether they've contacted customer service. We also know which customers ultimately left—that's our churn status. Currently, about 14.5% of our customers are churning, which represents significant lost revenue.</a:t>
            </a:r>
            <a:endParaRPr sz="1500">
              <a:solidFill>
                <a:schemeClr val="dk1"/>
              </a:solidFill>
            </a:endParaRPr>
          </a:p>
          <a:p>
            <a:pPr indent="0" lvl="0" marL="0" rtl="0" algn="l">
              <a:spcBef>
                <a:spcPts val="0"/>
              </a:spcBef>
              <a:spcAft>
                <a:spcPts val="120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pic>
        <p:nvPicPr>
          <p:cNvPr id="84" name="Google Shape;84;p18"/>
          <p:cNvPicPr preferRelativeResize="0"/>
          <p:nvPr/>
        </p:nvPicPr>
        <p:blipFill rotWithShape="1">
          <a:blip r:embed="rId3">
            <a:alphaModFix/>
          </a:blip>
          <a:srcRect b="0" l="0" r="49400" t="0"/>
          <a:stretch/>
        </p:blipFill>
        <p:spPr>
          <a:xfrm>
            <a:off x="1420675" y="76200"/>
            <a:ext cx="6416208" cy="49911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1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Key Insights - What the Data Reveals</a:t>
            </a:r>
            <a:endParaRPr/>
          </a:p>
        </p:txBody>
      </p:sp>
      <p:sp>
        <p:nvSpPr>
          <p:cNvPr id="90" name="Google Shape;90;p1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91" name="Google Shape;91;p19"/>
          <p:cNvPicPr preferRelativeResize="0"/>
          <p:nvPr/>
        </p:nvPicPr>
        <p:blipFill>
          <a:blip r:embed="rId3">
            <a:alphaModFix/>
          </a:blip>
          <a:stretch>
            <a:fillRect/>
          </a:stretch>
        </p:blipFill>
        <p:spPr>
          <a:xfrm>
            <a:off x="0" y="962406"/>
            <a:ext cx="9144000" cy="3218688"/>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20"/>
          <p:cNvPicPr preferRelativeResize="0"/>
          <p:nvPr/>
        </p:nvPicPr>
        <p:blipFill>
          <a:blip r:embed="rId3">
            <a:alphaModFix/>
          </a:blip>
          <a:stretch>
            <a:fillRect/>
          </a:stretch>
        </p:blipFill>
        <p:spPr>
          <a:xfrm>
            <a:off x="152400" y="713850"/>
            <a:ext cx="8839200" cy="371580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pic>
        <p:nvPicPr>
          <p:cNvPr id="101" name="Google Shape;101;p21"/>
          <p:cNvPicPr preferRelativeResize="0"/>
          <p:nvPr/>
        </p:nvPicPr>
        <p:blipFill>
          <a:blip r:embed="rId3">
            <a:alphaModFix/>
          </a:blip>
          <a:stretch>
            <a:fillRect/>
          </a:stretch>
        </p:blipFill>
        <p:spPr>
          <a:xfrm>
            <a:off x="1225738" y="152400"/>
            <a:ext cx="6692530" cy="483869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 name="Shape 105"/>
        <p:cNvGrpSpPr/>
        <p:nvPr/>
      </p:nvGrpSpPr>
      <p:grpSpPr>
        <a:xfrm>
          <a:off x="0" y="0"/>
          <a:ext cx="0" cy="0"/>
          <a:chOff x="0" y="0"/>
          <a:chExt cx="0" cy="0"/>
        </a:xfrm>
      </p:grpSpPr>
      <p:sp>
        <p:nvSpPr>
          <p:cNvPr id="106" name="Google Shape;106;p2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Key Insights - What the Data Reveals</a:t>
            </a:r>
            <a:endParaRPr/>
          </a:p>
          <a:p>
            <a:pPr indent="0" lvl="0" marL="0" rtl="0" algn="l">
              <a:spcBef>
                <a:spcPts val="0"/>
              </a:spcBef>
              <a:spcAft>
                <a:spcPts val="0"/>
              </a:spcAft>
              <a:buNone/>
            </a:pPr>
            <a:r>
              <a:t/>
            </a:r>
            <a:endParaRPr/>
          </a:p>
        </p:txBody>
      </p:sp>
      <p:sp>
        <p:nvSpPr>
          <p:cNvPr id="107" name="Google Shape;107;p2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Before building our prediction model, we explored the data to understand what drives churn. Four major patterns emerged: First, customers who call our support line 4 or more times are at extreme risk—repeated calls signal unresolved problems. Second, customers with international plans leave at three times the normal rate, suggesting pricing or value issues. Third, customers with our voice mail plan are more loyal—value-added services create stickiness. Finally, customers with very high charges are more likely to leave, possibly due to bill shock or better competitor pricing.</a:t>
            </a:r>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Understanding Classification Models</a:t>
            </a:r>
            <a:endParaRPr/>
          </a:p>
        </p:txBody>
      </p:sp>
      <p:sp>
        <p:nvSpPr>
          <p:cNvPr id="113" name="Google Shape;113;p23"/>
          <p:cNvSpPr txBox="1"/>
          <p:nvPr>
            <p:ph idx="1" type="body"/>
          </p:nvPr>
        </p:nvSpPr>
        <p:spPr>
          <a:xfrm>
            <a:off x="311700" y="1152475"/>
            <a:ext cx="8520600" cy="392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Decision tree </a:t>
            </a:r>
            <a:r>
              <a:rPr lang="en"/>
              <a:t>diagram</a:t>
            </a:r>
            <a:endParaRPr/>
          </a:p>
          <a:p>
            <a:pPr indent="0" lvl="0" marL="0" rtl="0" algn="l">
              <a:spcBef>
                <a:spcPts val="1200"/>
              </a:spcBef>
              <a:spcAft>
                <a:spcPts val="1200"/>
              </a:spcAft>
              <a:buNone/>
            </a:pPr>
            <a:r>
              <a:t/>
            </a:r>
            <a:endParaRPr/>
          </a:p>
        </p:txBody>
      </p:sp>
      <p:pic>
        <p:nvPicPr>
          <p:cNvPr id="114" name="Google Shape;114;p23"/>
          <p:cNvPicPr preferRelativeResize="0"/>
          <p:nvPr/>
        </p:nvPicPr>
        <p:blipFill>
          <a:blip r:embed="rId3">
            <a:alphaModFix/>
          </a:blip>
          <a:stretch>
            <a:fillRect/>
          </a:stretch>
        </p:blipFill>
        <p:spPr>
          <a:xfrm>
            <a:off x="2726750" y="947250"/>
            <a:ext cx="6105550" cy="4125775"/>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2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Approach - Testing Different Methods</a:t>
            </a:r>
            <a:endParaRPr/>
          </a:p>
          <a:p>
            <a:pPr indent="0" lvl="0" marL="0" rtl="0" algn="l">
              <a:spcBef>
                <a:spcPts val="0"/>
              </a:spcBef>
              <a:spcAft>
                <a:spcPts val="0"/>
              </a:spcAft>
              <a:buNone/>
            </a:pPr>
            <a:r>
              <a:t/>
            </a:r>
            <a:endParaRPr/>
          </a:p>
        </p:txBody>
      </p:sp>
      <p:sp>
        <p:nvSpPr>
          <p:cNvPr id="120" name="Google Shape;120;p24"/>
          <p:cNvSpPr txBox="1"/>
          <p:nvPr>
            <p:ph idx="1" type="body"/>
          </p:nvPr>
        </p:nvSpPr>
        <p:spPr>
          <a:xfrm>
            <a:off x="311700" y="1152475"/>
            <a:ext cx="8520600" cy="39252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300">
                <a:solidFill>
                  <a:schemeClr val="dk1"/>
                </a:solidFill>
              </a:rPr>
              <a:t>Card 1: Logistic Regression</a:t>
            </a:r>
            <a:endParaRPr sz="2000"/>
          </a:p>
        </p:txBody>
      </p:sp>
      <p:pic>
        <p:nvPicPr>
          <p:cNvPr id="121" name="Google Shape;121;p24"/>
          <p:cNvPicPr preferRelativeResize="0"/>
          <p:nvPr/>
        </p:nvPicPr>
        <p:blipFill>
          <a:blip r:embed="rId3">
            <a:alphaModFix/>
          </a:blip>
          <a:stretch>
            <a:fillRect/>
          </a:stretch>
        </p:blipFill>
        <p:spPr>
          <a:xfrm>
            <a:off x="2480150" y="1017725"/>
            <a:ext cx="6352151" cy="41257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p2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Approach - Testing Different Methods</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p:txBody>
      </p:sp>
      <p:sp>
        <p:nvSpPr>
          <p:cNvPr id="127" name="Google Shape;127;p25"/>
          <p:cNvSpPr txBox="1"/>
          <p:nvPr>
            <p:ph idx="1" type="body"/>
          </p:nvPr>
        </p:nvSpPr>
        <p:spPr>
          <a:xfrm>
            <a:off x="311700" y="1152475"/>
            <a:ext cx="8520600" cy="3920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a:solidFill>
                  <a:schemeClr val="dk1"/>
                </a:solidFill>
              </a:rPr>
              <a:t>Card 2: Decision Tree</a:t>
            </a:r>
            <a:endParaRPr sz="2500"/>
          </a:p>
        </p:txBody>
      </p:sp>
      <p:pic>
        <p:nvPicPr>
          <p:cNvPr id="128" name="Google Shape;128;p25"/>
          <p:cNvPicPr preferRelativeResize="0"/>
          <p:nvPr/>
        </p:nvPicPr>
        <p:blipFill>
          <a:blip r:embed="rId3">
            <a:alphaModFix/>
          </a:blip>
          <a:stretch>
            <a:fillRect/>
          </a:stretch>
        </p:blipFill>
        <p:spPr>
          <a:xfrm>
            <a:off x="2726750" y="947250"/>
            <a:ext cx="6105550" cy="4125775"/>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Clr>
                <a:schemeClr val="dk1"/>
              </a:buClr>
              <a:buSzPct val="39285"/>
              <a:buFont typeface="Arial"/>
              <a:buNone/>
            </a:pPr>
            <a:r>
              <a:rPr lang="en"/>
              <a:t>Modeling Approach - Testing Different Methods</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Clr>
                <a:schemeClr val="dk1"/>
              </a:buClr>
              <a:buSzPct val="39285"/>
              <a:buFont typeface="Arial"/>
              <a:buNone/>
            </a:pPr>
            <a:r>
              <a:t/>
            </a:r>
            <a:endParaRPr/>
          </a:p>
          <a:p>
            <a:pPr indent="0" lvl="0" marL="0" rtl="0" algn="l">
              <a:spcBef>
                <a:spcPts val="0"/>
              </a:spcBef>
              <a:spcAft>
                <a:spcPts val="0"/>
              </a:spcAft>
              <a:buNone/>
            </a:pPr>
            <a:r>
              <a:t/>
            </a:r>
            <a:endParaRPr/>
          </a:p>
        </p:txBody>
      </p:sp>
      <p:sp>
        <p:nvSpPr>
          <p:cNvPr id="134" name="Google Shape;134;p26"/>
          <p:cNvSpPr txBox="1"/>
          <p:nvPr>
            <p:ph idx="1" type="body"/>
          </p:nvPr>
        </p:nvSpPr>
        <p:spPr>
          <a:xfrm>
            <a:off x="311700" y="1152475"/>
            <a:ext cx="8520600" cy="3990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500">
                <a:solidFill>
                  <a:schemeClr val="dk1"/>
                </a:solidFill>
              </a:rPr>
              <a:t>Card 3: Random Forest</a:t>
            </a:r>
            <a:endParaRPr sz="2200"/>
          </a:p>
        </p:txBody>
      </p:sp>
      <p:pic>
        <p:nvPicPr>
          <p:cNvPr id="135" name="Google Shape;135;p26"/>
          <p:cNvPicPr preferRelativeResize="0"/>
          <p:nvPr/>
        </p:nvPicPr>
        <p:blipFill>
          <a:blip r:embed="rId3">
            <a:alphaModFix/>
          </a:blip>
          <a:stretch>
            <a:fillRect/>
          </a:stretch>
        </p:blipFill>
        <p:spPr>
          <a:xfrm>
            <a:off x="2491900" y="1017725"/>
            <a:ext cx="6340399" cy="412577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Modeling Approach - Testing Different Methods</a:t>
            </a:r>
            <a:endParaRPr/>
          </a:p>
          <a:p>
            <a:pPr indent="0" lvl="0" marL="0" rtl="0" algn="l">
              <a:spcBef>
                <a:spcPts val="0"/>
              </a:spcBef>
              <a:spcAft>
                <a:spcPts val="0"/>
              </a:spcAft>
              <a:buNone/>
            </a:pPr>
            <a:r>
              <a:t/>
            </a:r>
            <a:endParaRPr/>
          </a:p>
        </p:txBody>
      </p:sp>
      <p:sp>
        <p:nvSpPr>
          <p:cNvPr id="141" name="Google Shape;141;p27"/>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We tested three different approaches to find the best predictor.The first, Logistic Regression, is simple and transparent but only catches 24% of customers who will churn—not good enough. The third, Random Forest, is very sophisticated and accurate overall, catching 68% of churners. But the second approach, Decision Tree, is our winner: it catches 78% of customers who will leave, and importantly, it never raises false alarms. It's also easy to explain and understand, which matters for implementation.</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5" name="Shape 145"/>
        <p:cNvGrpSpPr/>
        <p:nvPr/>
      </p:nvGrpSpPr>
      <p:grpSpPr>
        <a:xfrm>
          <a:off x="0" y="0"/>
          <a:ext cx="0" cy="0"/>
          <a:chOff x="0" y="0"/>
          <a:chExt cx="0" cy="0"/>
        </a:xfrm>
      </p:grpSpPr>
      <p:sp>
        <p:nvSpPr>
          <p:cNvPr id="146" name="Google Shape;146;p28"/>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Evaluation - How Well Does It Work?</a:t>
            </a:r>
            <a:endParaRPr/>
          </a:p>
        </p:txBody>
      </p:sp>
      <p:sp>
        <p:nvSpPr>
          <p:cNvPr id="147" name="Google Shape;147;p28"/>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148" name="Google Shape;148;p28"/>
          <p:cNvPicPr preferRelativeResize="0"/>
          <p:nvPr/>
        </p:nvPicPr>
        <p:blipFill>
          <a:blip r:embed="rId3">
            <a:alphaModFix/>
          </a:blip>
          <a:stretch>
            <a:fillRect/>
          </a:stretch>
        </p:blipFill>
        <p:spPr>
          <a:xfrm>
            <a:off x="311700" y="1152475"/>
            <a:ext cx="8520601" cy="3991025"/>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29"/>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Model Evaluation - How Well Does It Work?</a:t>
            </a:r>
            <a:endParaRPr/>
          </a:p>
        </p:txBody>
      </p:sp>
      <p:sp>
        <p:nvSpPr>
          <p:cNvPr id="154" name="Google Shape;154;p29"/>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Let me translate the technical metrics into business terms. Our most important measure is called 'recall'—it means: out of every 100 customers who will actually leave, we correctly identify 78 of them. That gives us 78 opportunities to intervene and save those relationships. Yes, we miss 22, but 78% is excellent in the industry. Our overall accuracy is 97%, meaning we make the right call almost every time. And here's something special: our 'precision' is 100%, meaning when our model flags someone as at-risk, it's always right—we have zero false alarms. This means every alert we get is worth investigating.</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30"/>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What Drives Churn? - Most Important Factors</a:t>
            </a:r>
            <a:endParaRPr/>
          </a:p>
        </p:txBody>
      </p:sp>
      <p:sp>
        <p:nvSpPr>
          <p:cNvPr id="160" name="Google Shape;160;p30"/>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Our model tells us exactly which factors matter most for predicting churn. The number one predictor is customer service calls—specifically, when someone calls four or more times, they're at extreme risk. This tells us they have unresolved problems. Second, total charges matter: high bills make customers shop around. Third, having an international plan is surprisingly risky, suggesting we need to review our pricing and value proposition for these customers. On the positive side, customers with our voice mail plan are much more loyal—value-added services create stickiness. These insights aren't just academic—they tell us exactly where to focus our retention efforts.</a:t>
            </a:r>
            <a:endParaRPr/>
          </a:p>
        </p:txBody>
      </p:sp>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31"/>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Business Recommendations - Taking Action</a:t>
            </a:r>
            <a:endParaRPr/>
          </a:p>
          <a:p>
            <a:pPr indent="0" lvl="0" marL="0" rtl="0" algn="l">
              <a:spcBef>
                <a:spcPts val="0"/>
              </a:spcBef>
              <a:spcAft>
                <a:spcPts val="0"/>
              </a:spcAft>
              <a:buNone/>
            </a:pPr>
            <a:r>
              <a:t/>
            </a:r>
            <a:endParaRPr/>
          </a:p>
        </p:txBody>
      </p:sp>
      <p:sp>
        <p:nvSpPr>
          <p:cNvPr id="166" name="Google Shape;166;p31"/>
          <p:cNvSpPr txBox="1"/>
          <p:nvPr>
            <p:ph idx="1" type="body"/>
          </p:nvPr>
        </p:nvSpPr>
        <p:spPr>
          <a:xfrm>
            <a:off x="311700" y="1152475"/>
            <a:ext cx="8520600" cy="3416400"/>
          </a:xfrm>
          <a:prstGeom prst="rect">
            <a:avLst/>
          </a:prstGeom>
        </p:spPr>
        <p:txBody>
          <a:bodyPr anchorCtr="0" anchor="t" bIns="91425" lIns="91425" spcFirstLastPara="1" rIns="91425" wrap="square" tIns="91425">
            <a:normAutofit lnSpcReduction="10000"/>
          </a:bodyPr>
          <a:lstStyle/>
          <a:p>
            <a:pPr indent="0" lvl="0" marL="0" rtl="0" algn="l">
              <a:spcBef>
                <a:spcPts val="0"/>
              </a:spcBef>
              <a:spcAft>
                <a:spcPts val="0"/>
              </a:spcAft>
              <a:buNone/>
            </a:pPr>
            <a:r>
              <a:rPr lang="en"/>
              <a:t>Based on our findings, I recommend a three-tier action plan. First, immediate interventions for high-risk customers: anyone with 4 or more service calls gets assigned to a dedicated retention specialist, and we need to review our international plan pricing immediately.</a:t>
            </a:r>
            <a:endParaRPr/>
          </a:p>
          <a:p>
            <a:pPr indent="0" lvl="0" marL="0" rtl="0" algn="l">
              <a:spcBef>
                <a:spcPts val="1200"/>
              </a:spcBef>
              <a:spcAft>
                <a:spcPts val="0"/>
              </a:spcAft>
              <a:buNone/>
            </a:pPr>
            <a:r>
              <a:rPr lang="en"/>
              <a:t> Second, medium-term strategies like automated usage monitoring to catch bill shock before it happens, and promoting value-added services like voicemail to increase loyalty. </a:t>
            </a:r>
            <a:endParaRPr/>
          </a:p>
          <a:p>
            <a:pPr indent="0" lvl="0" marL="0" rtl="0" algn="l">
              <a:spcBef>
                <a:spcPts val="1200"/>
              </a:spcBef>
              <a:spcAft>
                <a:spcPts val="1200"/>
              </a:spcAft>
              <a:buNone/>
            </a:pPr>
            <a:r>
              <a:rPr lang="en"/>
              <a:t>Third, systematic changes: deploying this model to score all customers monthly and triggering automated retention workflows. This moves us from reactive to proactive retention.</a:t>
            </a:r>
            <a:endParaRPr/>
          </a:p>
        </p:txBody>
      </p:sp>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32"/>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Future Enhancements - Continuous Improvement</a:t>
            </a:r>
            <a:endParaRPr/>
          </a:p>
        </p:txBody>
      </p:sp>
      <p:sp>
        <p:nvSpPr>
          <p:cNvPr id="172" name="Google Shape;172;p32"/>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rPr lang="en"/>
              <a:t>This model is just the beginning. Over the next year, we can enhance it significantly: moving from monthly batch predictions to real-time scoring, adding more data sources like competitor pricing and app usage, and building advanced capabilities like trend detection and optimal offer selection. We can also integrate this more deeply into our operations with automated alerts to account managers and executive dashboards. The foundation we're building today will support increasingly sophisticated retention strategies as we learn and improve.</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33"/>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Thank You</a:t>
            </a:r>
            <a:endParaRPr/>
          </a:p>
        </p:txBody>
      </p:sp>
      <p:sp>
        <p:nvSpPr>
          <p:cNvPr id="178" name="Google Shape;178;p33"/>
          <p:cNvSpPr txBox="1"/>
          <p:nvPr>
            <p:ph idx="1" type="body"/>
          </p:nvPr>
        </p:nvSpPr>
        <p:spPr>
          <a:xfrm>
            <a:off x="311700" y="1152475"/>
            <a:ext cx="8520600" cy="3416400"/>
          </a:xfrm>
          <a:prstGeom prst="rect">
            <a:avLst/>
          </a:prstGeom>
        </p:spPr>
        <p:txBody>
          <a:bodyPr anchorCtr="0" anchor="t" bIns="91425" lIns="91425" spcFirstLastPara="1" rIns="91425" wrap="square" tIns="91425">
            <a:normAutofit fontScale="85000" lnSpcReduction="20000"/>
          </a:bodyPr>
          <a:lstStyle/>
          <a:p>
            <a:pPr indent="0" lvl="0" marL="0" rtl="0" algn="l">
              <a:spcBef>
                <a:spcPts val="0"/>
              </a:spcBef>
              <a:spcAft>
                <a:spcPts val="0"/>
              </a:spcAft>
              <a:buNone/>
            </a:pPr>
            <a:r>
              <a:rPr lang="en"/>
              <a:t>Thank you for your time. I'm happy to answer any questions or dive deeper into any aspect of the analysis</a:t>
            </a:r>
            <a:endParaRPr/>
          </a:p>
          <a:p>
            <a:pPr indent="0" lvl="0" marL="0" rtl="0" algn="l">
              <a:spcBef>
                <a:spcPts val="1200"/>
              </a:spcBef>
              <a:spcAft>
                <a:spcPts val="0"/>
              </a:spcAft>
              <a:buNone/>
            </a:pPr>
            <a:r>
              <a:rPr lang="en"/>
              <a:t>- Jeffrey Gathigi</a:t>
            </a:r>
            <a:endParaRPr/>
          </a:p>
          <a:p>
            <a:pPr indent="0" lvl="0" marL="0" rtl="0" algn="l">
              <a:spcBef>
                <a:spcPts val="1200"/>
              </a:spcBef>
              <a:spcAft>
                <a:spcPts val="0"/>
              </a:spcAft>
              <a:buNone/>
            </a:pPr>
            <a:r>
              <a:rPr lang="en"/>
              <a:t>- Data Science Program (Part-Time)</a:t>
            </a:r>
            <a:endParaRPr/>
          </a:p>
          <a:p>
            <a:pPr indent="0" lvl="0" marL="0" rtl="0" algn="l">
              <a:spcBef>
                <a:spcPts val="1200"/>
              </a:spcBef>
              <a:spcAft>
                <a:spcPts val="0"/>
              </a:spcAft>
              <a:buNone/>
            </a:pPr>
            <a:r>
              <a:rPr lang="en"/>
              <a:t>- Instructor: Brian Chacha</a:t>
            </a:r>
            <a:endParaRPr/>
          </a:p>
          <a:p>
            <a:pPr indent="0" lvl="0" marL="0" rtl="0" algn="l">
              <a:spcBef>
                <a:spcPts val="1200"/>
              </a:spcBef>
              <a:spcAft>
                <a:spcPts val="0"/>
              </a:spcAft>
              <a:buNone/>
            </a:pPr>
            <a:r>
              <a:rPr lang="en"/>
              <a:t>- Email: jeffrey.gathigi@student.moringaschool.com</a:t>
            </a:r>
            <a:endParaRPr/>
          </a:p>
          <a:p>
            <a:pPr indent="0" lvl="0" marL="0" rtl="0" algn="l">
              <a:spcBef>
                <a:spcPts val="1200"/>
              </a:spcBef>
              <a:spcAft>
                <a:spcPts val="0"/>
              </a:spcAft>
              <a:buNone/>
            </a:pPr>
            <a:r>
              <a:rPr lang="en"/>
              <a:t>- LinkedIn: https://www.linkedin.com/in/jeffrey-gathigi-38a373363/</a:t>
            </a:r>
            <a:endParaRPr/>
          </a:p>
          <a:p>
            <a:pPr indent="0" lvl="0" marL="0" rtl="0" algn="l">
              <a:spcBef>
                <a:spcPts val="1200"/>
              </a:spcBef>
              <a:spcAft>
                <a:spcPts val="0"/>
              </a:spcAft>
              <a:buNone/>
            </a:pPr>
            <a:r>
              <a:rPr lang="en"/>
              <a:t>- GitHub: https://github.com/GATHIGIMUREITHI/phase3project.git</a:t>
            </a:r>
            <a:endParaRPr/>
          </a:p>
          <a:p>
            <a:pPr indent="0" lvl="0" marL="0" rtl="0" algn="l">
              <a:spcBef>
                <a:spcPts val="1200"/>
              </a:spcBef>
              <a:spcAft>
                <a:spcPts val="1200"/>
              </a:spcAft>
              <a:buNone/>
            </a:pPr>
            <a:r>
              <a:t/>
            </a:r>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